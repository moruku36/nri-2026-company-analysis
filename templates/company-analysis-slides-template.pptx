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977720d934554" /><Relationship Type="http://schemas.openxmlformats.org/officeDocument/2006/relationships/extended-properties" Target="/docProps/app.xml" Id="R6a1e5cb4b6c843c0" /><Relationship Type="http://schemas.openxmlformats.org/officeDocument/2006/relationships/officeDocument" Target="/ppt/presentation.xml" Id="R82ed791ec7af4e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6f79bc55994da3"/>
  </p:sldMasterIdLst>
  <p:notesMasterIdLst>
    <p:notesMasterId xmlns:r="http://schemas.openxmlformats.org/officeDocument/2006/relationships" r:id="Rd3bca0eab9304109"/>
  </p:notesMasterIdLst>
  <p:sldIdLst>
    <p:sldId xmlns:r="http://schemas.openxmlformats.org/officeDocument/2006/relationships" id="256" r:id="R124d6609c85b4980"/>
    <p:sldId xmlns:r="http://schemas.openxmlformats.org/officeDocument/2006/relationships" id="257" r:id="Rc15718606cdf45dc"/>
    <p:sldId xmlns:r="http://schemas.openxmlformats.org/officeDocument/2006/relationships" id="258" r:id="R42bdc50a25c641c8"/>
    <p:sldId xmlns:r="http://schemas.openxmlformats.org/officeDocument/2006/relationships" id="259" r:id="Rf877938daeef4bf8"/>
    <p:sldId xmlns:r="http://schemas.openxmlformats.org/officeDocument/2006/relationships" id="260" r:id="R75e5223670b54a53"/>
    <p:sldId xmlns:r="http://schemas.openxmlformats.org/officeDocument/2006/relationships" id="261" r:id="R592f385b627f4b71"/>
    <p:sldId xmlns:r="http://schemas.openxmlformats.org/officeDocument/2006/relationships" id="262" r:id="R431f6774402c4c55"/>
    <p:sldId xmlns:r="http://schemas.openxmlformats.org/officeDocument/2006/relationships" id="263" r:id="R78c0f292627947a0"/>
    <p:sldId xmlns:r="http://schemas.openxmlformats.org/officeDocument/2006/relationships" id="264" r:id="R3638aaeb5aa249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f6aeeec5984a7b" /><Relationship Type="http://schemas.openxmlformats.org/officeDocument/2006/relationships/slideMaster" Target="/ppt/slideMasters/slideMaster1.xml" Id="R2a6f79bc55994da3" /><Relationship Type="http://schemas.openxmlformats.org/officeDocument/2006/relationships/notesMaster" Target="/ppt/notesMasters/notesMaster1.xml" Id="Rd3bca0eab9304109" /><Relationship Type="http://schemas.openxmlformats.org/officeDocument/2006/relationships/presProps" Target="/ppt/presProps.xml" Id="R4e02db11ee3d465d" /><Relationship Type="http://schemas.openxmlformats.org/officeDocument/2006/relationships/tableStyles" Target="/ppt/tableStyles.xml" Id="R347ec1ed856d47ca" /><Relationship Type="http://schemas.openxmlformats.org/officeDocument/2006/relationships/slide" Target="/ppt/slides/slide1.xml" Id="R124d6609c85b4980" /><Relationship Type="http://schemas.openxmlformats.org/officeDocument/2006/relationships/slide" Target="/ppt/slides/slide2.xml" Id="Rc15718606cdf45dc" /><Relationship Type="http://schemas.openxmlformats.org/officeDocument/2006/relationships/slide" Target="/ppt/slides/slide3.xml" Id="R42bdc50a25c641c8" /><Relationship Type="http://schemas.openxmlformats.org/officeDocument/2006/relationships/slide" Target="/ppt/slides/slide4.xml" Id="Rf877938daeef4bf8" /><Relationship Type="http://schemas.openxmlformats.org/officeDocument/2006/relationships/slide" Target="/ppt/slides/slide5.xml" Id="R75e5223670b54a53" /><Relationship Type="http://schemas.openxmlformats.org/officeDocument/2006/relationships/slide" Target="/ppt/slides/slide6.xml" Id="R592f385b627f4b71" /><Relationship Type="http://schemas.openxmlformats.org/officeDocument/2006/relationships/slide" Target="/ppt/slides/slide7.xml" Id="R431f6774402c4c55" /><Relationship Type="http://schemas.openxmlformats.org/officeDocument/2006/relationships/slide" Target="/ppt/slides/slide8.xml" Id="R78c0f292627947a0" /><Relationship Type="http://schemas.openxmlformats.org/officeDocument/2006/relationships/slide" Target="/ppt/slides/slide9.xml" Id="R3638aaeb5aa2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55631cdbf41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f90a337b04be5" /><Relationship Type="http://schemas.openxmlformats.org/officeDocument/2006/relationships/notesMaster" Target="/ppt/notesMasters/notesMaster1.xml" Id="R2606e284d72b48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9017ae3d64bb9" /><Relationship Type="http://schemas.openxmlformats.org/officeDocument/2006/relationships/notesMaster" Target="/ppt/notesMasters/notesMaster1.xml" Id="Rb2191f953a184b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89ebfac684f10" /><Relationship Type="http://schemas.openxmlformats.org/officeDocument/2006/relationships/notesMaster" Target="/ppt/notesMasters/notesMaster1.xml" Id="Rcc4a305d584a40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d387e547db4553" /><Relationship Type="http://schemas.openxmlformats.org/officeDocument/2006/relationships/notesMaster" Target="/ppt/notesMasters/notesMaster1.xml" Id="Rda67161191ef4f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f96fec17a94d11" /><Relationship Type="http://schemas.openxmlformats.org/officeDocument/2006/relationships/notesMaster" Target="/ppt/notesMasters/notesMaster1.xml" Id="R04775e8d833045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2aba6f75994585" /><Relationship Type="http://schemas.openxmlformats.org/officeDocument/2006/relationships/notesMaster" Target="/ppt/notesMasters/notesMaster1.xml" Id="R1902a078020a45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d9cdd1b504264" /><Relationship Type="http://schemas.openxmlformats.org/officeDocument/2006/relationships/notesMaster" Target="/ppt/notesMasters/notesMaster1.xml" Id="Rfcea6333b8ac4d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e7f7437718492a" /><Relationship Type="http://schemas.openxmlformats.org/officeDocument/2006/relationships/notesMaster" Target="/ppt/notesMasters/notesMaster1.xml" Id="Ra24ac2daaf9f48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ea1270bb4049e9" /><Relationship Type="http://schemas.openxmlformats.org/officeDocument/2006/relationships/notesMaster" Target="/ppt/notesMasters/notesMaster1.xml" Id="R6b31526abff5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表紙テンプレート。会社名、テーマ、基準日、作成者、必要な機密区分に差し替える。NRIロゴ・商標は含まない。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7e17f06bf4a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c2128381924d3c" /><Relationship Type="http://schemas.openxmlformats.org/officeDocument/2006/relationships/slideLayout" Target="/ppt/slideLayouts/slideLayout1.xml" Id="R78e88445fdd6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e88445fdd6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b14439d7c4532" /><Relationship Type="http://schemas.openxmlformats.org/officeDocument/2006/relationships/notesSlide" Target="/ppt/notesSlides/notesSlide1.xml" Id="R2a82605987014e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dc6e127064a01" /><Relationship Type="http://schemas.openxmlformats.org/officeDocument/2006/relationships/notesSlide" Target="/ppt/notesSlides/notesSlide2.xml" Id="R154e741b78ea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2d22d8b1f4196" /><Relationship Type="http://schemas.openxmlformats.org/officeDocument/2006/relationships/notesSlide" Target="/ppt/notesSlides/notesSlide3.xml" Id="R3da3285ed3e543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4bad903314704" /><Relationship Type="http://schemas.openxmlformats.org/officeDocument/2006/relationships/notesSlide" Target="/ppt/notesSlides/notesSlide4.xml" Id="R487190ef08ed4d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8cbcd063f4a82" /><Relationship Type="http://schemas.openxmlformats.org/officeDocument/2006/relationships/notesSlide" Target="/ppt/notesSlides/notesSlide5.xml" Id="R860f6924f52b42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7208d601f47dc" /><Relationship Type="http://schemas.openxmlformats.org/officeDocument/2006/relationships/notesSlide" Target="/ppt/notesSlides/notesSlide6.xml" Id="Rdc4e993fce5a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fd5de88264af1" /><Relationship Type="http://schemas.openxmlformats.org/officeDocument/2006/relationships/notesSlide" Target="/ppt/notesSlides/notesSlide7.xml" Id="Rb086ca1c093d4d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8694d30c24335" /><Relationship Type="http://schemas.openxmlformats.org/officeDocument/2006/relationships/notesSlide" Target="/ppt/notesSlides/notesSlide8.xml" Id="R281c058154a544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73eb7f86f4c3b" /><Relationship Type="http://schemas.openxmlformats.org/officeDocument/2006/relationships/notesSlide" Target="/ppt/notesSlides/notesSlide9.xml" Id="R92e317bfae5e40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8F81C-9789-4786-A37E-C64A9CC2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634DE-5ABC-48A3-BACC-F0C0E64A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6D91A-AE5E-4DFF-BA80-E21EAFC1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953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EA447-C15C-4647-BB80-32D77735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[会社名]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00E41-B57B-49CA-8510-2D88C92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000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AA1B7-80C1-4EE8-BDBF-46213A0B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[分析テーマ / 対象期間]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5A26D-BE75-4A9A-8329-A83222D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[基準日]  |  [部署・作成者]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1442C-1AE8-451E-A543-034643B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社外秘 / 公開資料分析 など</a:t>
            </a:r>
          </a:p>
        </p:txBody>
      </p:sp>
    </p:spTree>
    <p:extLst>
      <p:ext uri="{BB962C8B-B14F-4D97-AF65-F5344CB8AC3E}">
        <p14:creationId xmlns:p14="http://schemas.microsoft.com/office/powerpoint/2010/main" val="1901387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3E538-2956-4165-B4B9-3ADA751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7FF8-B26A-401A-95D2-4F2C980A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626A8-F328-4F42-8274-E0012DAD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要旨と本資料の見取り図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E723B-9E24-48B1-80FE-AD84974D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2FE3B-39CA-440C-99EC-94BD02E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9616C-92B1-41BE-A183-E23075AD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2B42D-1AA2-4EE3-85DE-AFD12388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結論を一文で記載。何が変わり、なぜ重要かを示す。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BE80D-0041-43E5-928B-41BF4B6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4498E-E7F5-4BAE-A352-6367BC95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01  外部環境と市場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25F3E-3070-4741-9EF5-CB05AF89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02  事業構造と競争力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B92CB-1E4E-4F45-895E-4189E9E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03  経営戦略と成長投資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FADAF-C85A-4B0F-B52F-C9979E9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04  財務実績・計画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EE084-3BA9-43AD-AB02-07AD31AA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05  リスクと注視点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F9D3C-CE15-40BB-9658-F8C49D23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今回の判断を左右する論点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555CA-6DC1-4CC7-922F-40D6B5D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4F9F8-57E0-4F94-AA2F-2154319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28875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[最重要の強み / 成長要因]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D25F1-49E3-4194-837C-33B8E8B0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A2171-FFDE-4C8C-AB93-433D5EAB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90875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[最大の不確実性 / 下振れ要因]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C5D59-BFC2-41E9-9ABD-ABECE413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76917-5730-433E-B58E-0C72DCB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[次回更新までに確認するKPI]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E258D-6892-425D-A5A1-B7E2D98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作成者の分析と会社開示を明確に区別する</a:t>
            </a:r>
          </a:p>
        </p:txBody>
      </p:sp>
    </p:spTree>
    <p:extLst>
      <p:ext uri="{BB962C8B-B14F-4D97-AF65-F5344CB8AC3E}">
        <p14:creationId xmlns:p14="http://schemas.microsoft.com/office/powerpoint/2010/main" val="18197202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74EDD4-97A3-4ABE-B9F7-341638A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24C36-EB06-4F62-B726-6167844D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044C1-BC2F-40A2-B754-DB78C70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外部環境と市場の変化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9D9EA-48F0-4387-9F0E-9FF52467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425C6-1C3D-4995-B646-02B0904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0D316-3706-4739-B445-779518BF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8CB00-A3EA-40A1-AAEE-6EEE142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構造変化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BF8EE-872C-48E2-9879-B8F52C5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66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顧客・市場への影響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2E8C7-49EF-458F-8E80-9811F31C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対象会社への含意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1FFE2-63F9-4191-8235-0A6D0B26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AAA4D-E022-473F-8274-8645ACA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1447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[技術・規制・需要の変化]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51E98-F899-4AA1-BB41-ECF404D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430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676C5-CFC5-4632-B579-C975ED86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FE665-F6EE-4F0A-A129-E53FB860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1447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顧客ニーズへの影響]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5C799-3387-451F-9883-14B6B690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430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21FDC-C8A5-40CA-BE31-415FEE1F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10E9C-7B1C-417E-BDD7-BA424E06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14475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[機会・脅威と対応の必要性]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CA70DA-4C15-42F7-8D14-9FC033B6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EDCE4-9553-4642-AF22-57C85096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[競争構造・顧客行動の変化]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024FD-773B-4FA0-A584-4417FC54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FA3A4-85BC-4CA1-A310-B4702F6F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62BF2-C205-4EF2-84B0-124B3737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顧客ニーズへの影響]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8E29F-840B-4244-871F-5EBFE467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0510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3B4D5-6D46-41E8-83DA-7E3D0519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C4E07-E46A-4649-8BC7-36F85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76525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[機会・脅威と対応の必要性]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DCE47-EACD-456B-8012-E02DC0E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88EC1-198F-4F9A-926E-58FA181E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[市場規模・成長率の前提]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85D7E-D0F7-4D2E-82D2-AAE75E44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671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D6EA82-3505-45D4-BB0F-7C1306CE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7CC99-C4FA-4151-9D85-3A5428CC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259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顧客ニーズへの影響]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40BD84-47BA-47F4-9741-2668F5F4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67150"/>
            <a:ext cx="34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91723F-8F25-4B74-B7CA-10695CA2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A055BE-B466-4930-BF32-AC47C7E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[機会・脅威と対応の必要性]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E5D4A-86A0-4245-976B-D4B5DE56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出典: [市場データ / 公表日 / 調査機関]　｜　事実と作成者の推定を分ける</a:t>
            </a:r>
          </a:p>
        </p:txBody>
      </p:sp>
    </p:spTree>
    <p:extLst>
      <p:ext uri="{BB962C8B-B14F-4D97-AF65-F5344CB8AC3E}">
        <p14:creationId xmlns:p14="http://schemas.microsoft.com/office/powerpoint/2010/main" val="1548530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755645-48B6-4957-9C07-8C8F513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E1E8B-7287-46A8-8806-11B668A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F689E-A19F-4C20-8825-3F83AAB7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事業ポートフォリオと収益構造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820CC-DB96-4B75-97B4-E92914B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04EF6-F1A4-44E4-AD2C-5F25A25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FDF40-C80A-4CBF-814C-1FCF5CD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22CEE-37CE-4B5F-9353-8A7D8149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053E4-FCFC-48AF-97A0-2DA5C898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573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事業 / 顧客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7CA6C-581F-4EE6-9262-057D3568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90625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8D6F7-6879-491A-BD5B-D5C8A17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573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提供価値・競争力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2E901-B021-40AD-9BB2-C008B7C8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9062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3F19A-93D4-4EDB-AFB5-461C2E7C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2573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売上 / 利益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838DB-C6B4-43A1-AFBB-B9B5BEA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906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D56EB-B870-4CF9-B17F-4270750E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67EC6-1E31-4E39-BAE1-EDF22B5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5060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0C794-7F69-4C55-89AE-6DD9BF4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DD16F-F44C-4F24-8345-DC4A0F16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[事業 1]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9458F-8CA2-4A7D-B6D6-41E081B1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24025"/>
            <a:ext cx="2809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4F154-5367-4415-ACA3-4F035506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716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[顧客課題・差別化要因]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2D25E-C2CC-4C36-9CA3-F0A6FCE2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240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24CB9-E019-4383-9C5E-6FA2A34A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7716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[売上比率 / 利益率]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BF8BE-9E98-4493-B9E9-D4486F3E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240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D5ADE-4BA7-4ED2-9DEE-6C7D14F2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716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[成長 / 採算性]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5BF35-5E50-4501-A785-140D94DF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5060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08AC9-8296-49A4-A2D6-A9FDA1A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2EFF69-1C70-45A1-9BCA-F2A9B293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[事業 2]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B597C-E695-45CD-992A-032F5DA5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2809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925E3-6E08-4AAF-8416-D35DD08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[顧客課題・差別化要因]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A6461-A1B3-45F7-B8F6-943EFA04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0B2EC-C185-47A0-A0F2-C24F7E2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098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[売上比率 / 利益率]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87C60-8A0C-4458-806B-144ED86B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622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BFBE9B-D920-4330-BA94-64385C0C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098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[成長 / 採算性]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B6EFA4-4783-4D27-B4A6-30A6BA87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05060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E0E2B-BD53-489B-85B7-391AFD37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D9282-A996-48A9-90E8-FC25A9E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[事業 3]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41B998-207C-48D7-8832-A3A693AF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0425"/>
            <a:ext cx="2809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5EF471-6DED-43CB-A7D8-52850D96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480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[顧客課題・差別化要因]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1873B1-C14A-46E2-BD45-47106C91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004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F9BB19-C7D2-4969-9D99-CA74DEB5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448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[売上比率 / 利益率]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540AB-7E26-44D6-A3B6-A9433BD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004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0AEA51-01F3-43F1-9CA0-B764772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480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[成長 / 採算性]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D84F25-9433-49B8-8176-44BE0BB8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5060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5C2AF8-3C0B-45CB-A055-553908AB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B5ECC2-A936-4FED-8AB3-1F556190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[事業 4]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FC3E5F-D72E-4C92-A69E-BF369CEE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2809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5F7DE4-BD12-402F-A0FF-EF4AE582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[顧客課題・差別化要因]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5A1E82-BC6A-4A9D-8F8C-2FA1BF0D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38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D134D3-F231-4CAE-B585-A1A56AB4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862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[売上比率 / 利益率]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526A60-E07C-46F3-9189-E025B55A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386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5B7D28-F61C-46BC-8A54-6DC4E7A7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86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[成長 / 採算性]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E67561-90DE-477D-88FC-5D10347E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単位・対象期間・連結消去の扱いを欄外または注記に明記</a:t>
            </a:r>
          </a:p>
        </p:txBody>
      </p:sp>
    </p:spTree>
    <p:extLst>
      <p:ext uri="{BB962C8B-B14F-4D97-AF65-F5344CB8AC3E}">
        <p14:creationId xmlns:p14="http://schemas.microsoft.com/office/powerpoint/2010/main" val="1118112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5EE8C-758C-40B5-9760-5EA21C54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6324F-738C-48DB-94DA-8F3DA60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54B57-9CAC-4F6E-ACF4-278A6BE2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経営戦略と価値創出の道筋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D6217-24D8-4E8C-8F61-70217E5F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14CF7-58D1-4DD0-8F8F-6F86D5B0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E780E-667D-45D3-9EC5-AB886AD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E3A02-073F-4C62-9AB1-4F9EAE79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2238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D44CF-FD56-4AA4-A050-D2B03B2E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経営課題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2F299-06EB-4FCF-891F-03484E01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[解くべき課題]</a:t>
            </a:r>
          </a:p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[外部環境の変化]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E86F7-1B0E-4B5F-B686-05C819B3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431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84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551CB-D00F-455A-BC80-BE6F855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2238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E85C4-FAC5-4357-B5E8-E7B273A8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重点施策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35D6F-700F-4BC3-ACCA-3FB50F94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908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[投資・事業施策]</a:t>
            </a:r>
          </a:p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[組織・提携]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893D9-B4AC-4990-89FB-D60070CA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431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84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91639-3BB2-417B-B76E-CAE6572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33575"/>
            <a:ext cx="2238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D69F6-8E0B-4918-BD2D-0693269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事業成果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89681-4621-46FA-8BFA-A12DE5B8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[顧客価値]</a:t>
            </a:r>
          </a:p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[売上・利益への経路]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1EA78-5700-461F-8CAB-21D6B79E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43175"/>
            <a:ext cx="32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846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3C3F1-C11D-47B7-A22B-7EC857DF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33575"/>
            <a:ext cx="2238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D7192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A4A30-E93E-4B00-BA55-2BD7056B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1920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71920"/>
                </a:solidFill>
                <a:latin typeface="Yu Gothic"/>
                <a:ea typeface="Yu Gothic"/>
                <a:cs typeface="Yu Gothic"/>
              </a:rPr>
              <a:t>企業価値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39CF3-7595-4DD4-90C9-63D444C9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90800"/>
            <a:ext cx="190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[財務目標]</a:t>
            </a:r>
          </a:p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[資本効率・還元]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42319-D9A4-4F65-B119-46F2D39F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338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8D2E9-51DC-4DD4-A376-A3B4BB20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成立条件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D5FA2-BE92-4990-861E-A57A1C03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[人材・技術・規制・価格・実行能力など、戦略が成果につながる前提]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2FD50-AF77-4D62-AF29-625BD719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会社が説明する因果関係と、資料で確認できた成果を混同しない</a:t>
            </a:r>
          </a:p>
        </p:txBody>
      </p:sp>
    </p:spTree>
    <p:extLst>
      <p:ext uri="{BB962C8B-B14F-4D97-AF65-F5344CB8AC3E}">
        <p14:creationId xmlns:p14="http://schemas.microsoft.com/office/powerpoint/2010/main" val="1928694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B8D1DF-752B-4FC5-B6CD-1EE94841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E0C72-FFB9-4EAB-9EC4-1671006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5AAC2-D1F5-494C-9493-2EE20AD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業績推移と経営目標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FE3E7-E1CA-450F-B0EE-C8AC6EA0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E9C1F-F7F3-41B4-BF7A-576036BE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29519-7502-4468-8A45-E48F6271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E0999-6ED7-4A69-BD18-6937FF1D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実績・会社予想・中計目標を分ける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DD5FE-6C3F-4777-833A-F70AE600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FFB55-7867-443A-A4B2-C63A8EA8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55278-0865-40EB-806A-935DC73F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57325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DA819-09F0-4145-9C13-1103C4E8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24000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[FY−2]実績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784BF-A42A-4631-8DCF-25AAB9A1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57325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40679-9D9E-4DDF-AF40-4617830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524000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[FY−1]実績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00ACC-C00B-4F30-9576-5D5D2EE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57325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9D0A5-2801-4F44-B065-CC9175D3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24000"/>
            <a:ext cx="1514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[FY]予想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A946A-138D-4E98-8A49-A26BBDC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57325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382DB-EC93-4A5C-A6B9-8637C61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24000"/>
            <a:ext cx="2181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[目標年度]目標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282F3-34C0-40A7-A500-B0BCA4D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D4979-A6AF-4806-8D85-9B91754F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145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8D553-7A40-4DAB-ABD2-2A68233B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145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D19EE-B3EE-4231-83C4-F5044D0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145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2E30F-7661-406C-BBDB-30C5A2E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1452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8C15E-A24E-4969-BAB9-63AE788C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売上高 / 売上収益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82479-2B4C-4F15-8871-F603ACCD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90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07C47-FB38-4A93-ADD2-804C2E50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990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7FCBC-C8B9-4B8D-9893-6FE77BA0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907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DB4DC-4A7F-4897-A6F7-56A9B048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9072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D6673-50A5-4196-AD61-4A14D954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D1027-CEF0-42E9-B4E4-9BFCFB8A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6697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5D2C3-92DF-4AF9-8488-77B7F231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6697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25832-2189-47FE-BEA4-2164D08D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6697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4D1899-B63E-4136-8AC3-46FB40EA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6697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DEC11C-8EEE-437B-8A6E-8B5ADC5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営業利益・利益率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463AF-7F60-4EB6-BEC6-446091B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4317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AD0815-B047-4F34-864E-84A155A3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4317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E70DE-CC65-4286-AB7A-2E689561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4317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B7F5D8-C671-4DD9-9A93-96CCB6CA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4317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4ED6A8-282D-417F-B473-38DB04AB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FD06BF-B752-44F8-B381-F25158B5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194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E43120-5897-4002-A36D-7C10141E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194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DC6BE8-ECF7-4A86-A225-BB36DFC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194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77C236-3086-40C2-B5BE-97BDEFA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1942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577E2F-EC11-45DD-831B-AA9B203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営業CF / 投資額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87748-0AA1-4A66-AF5C-DBCEED25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6B8FCC-3F5C-4ACF-BCE1-41EE649B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956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8CF23C-B2C2-405E-A88A-099DFB5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956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BDBCA9-825A-4E9A-ABBA-1C86741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9562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C8C6CC-F41F-449D-AA9E-F9C421E2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22B25A-04BE-4683-A6BC-B81F2A5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A8D851-E8B2-4F5B-943E-B7690BA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7187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3752E9-8847-4381-8FB5-CBCD475E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C1F396-D120-484E-85AB-2743F50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7187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6D1F72-4E6D-4E72-A403-8EE09797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ROE / ROIC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5A9F21-15EE-40A8-AA75-59D0988D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4807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42CAFD-DEB7-443E-AC49-5F0E6242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4807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EAFE2F-EF2A-4D49-8A6B-50F8A1F5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44A085-C2DD-4B2F-8B90-454A122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4807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B95396-DA9A-4488-9F16-299E5EA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E11A08-E0D6-4C72-A729-9DF0CCD1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243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E4A2F7-6E4F-456C-B9B3-55D3A9B0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243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63397F-C34F-421B-832B-B9A488F4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24325"/>
            <a:ext cx="1666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7622F0-72A1-403C-9DC6-5AF1F71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24325"/>
            <a:ext cx="2333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61E799-5E42-4DB6-834B-EFC1597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配当・自己株取得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F96542-34E9-4FBA-A24E-4C6AB30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005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885FF7-B888-4B20-867F-8473DCF5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005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C10974-CC7A-4B59-A753-B78E1FAF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00525"/>
            <a:ext cx="1514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F8FB4B-E02A-4756-821B-B3C1CD91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0052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[値・単位]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5CC340-87CC-4D02-88A1-BEB4739F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出典: [決算資料・公表日・ページ]　｜　会計基準・為替・一時損益・目標前提を注記</a:t>
            </a:r>
          </a:p>
        </p:txBody>
      </p:sp>
    </p:spTree>
    <p:extLst>
      <p:ext uri="{BB962C8B-B14F-4D97-AF65-F5344CB8AC3E}">
        <p14:creationId xmlns:p14="http://schemas.microsoft.com/office/powerpoint/2010/main" val="332098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EF966-7B88-4812-BCE8-74BBFC6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81EBD-4557-49CB-989D-DBD03E7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1EBDE-0FDB-4BF8-A4F7-3045E6F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成長施策の実行計画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3173-610B-4E16-B5BD-4A2136F4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D91AF-C1F9-4CE2-856C-3277B880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453B5-7F18-4098-91CE-181CCB02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5A7FD-18FC-4567-B55C-68E816C7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[Year 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BD857-B365-43E3-B944-973A56AE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621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66D9B-3029-4C59-82CB-9BC099C2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[Year 2]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FB849-2F90-4AE5-8F1B-0CCD2701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61EA2-1F84-4D49-8723-9F4A15F6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0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[Year 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41D1D-3D23-4F80-B56C-EB2D131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621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D0EE0-A5AA-4C71-A304-DF65AEA3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[施策 A]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1F7B-BD6F-4241-9C89-D98F316D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478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2A960-8F3D-4F13-ADCF-A1E86927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[マイルストーン / KPI]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3FE7E-563D-48A1-BA32-E970ADC1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46756-F428-486A-AC41-F5DFA4C1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[マイルストーン / KPI]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2E813-6237-4D6B-B6F8-59C27CC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478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FB7BF-8F46-4310-AECA-038FF57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[次の判断ゲート]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60D4B-331A-45D3-A708-BE621D1B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[施策 B]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84351-D6D1-43DF-B9D2-E8412D58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C5F4A-7938-4E16-8DDF-9EE0B1D0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[マイルストーン / KPI]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BF8E1-1510-4B82-99CC-A8A7E8CF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BBAE3-7858-4088-B6AA-E004C78E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527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[次の判断ゲート]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AE087-2CA5-40FF-AC4F-1B245E62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575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D719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88220-D23D-4E9A-AE59-E2163DF2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[マイルストーン / KPI]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DD400-29FB-46E4-B37F-BA3AA3C9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[施策 C]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397826-13B4-488E-9430-0AED629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671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8B009-1B1A-446B-B704-8E88154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[次の判断ゲート]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E652D-6767-4145-92E4-81A05FDD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CBD4D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5E2C76-BA79-4EAF-8446-F0778976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624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[マイルストーン / KPI]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3B1C3-EB4F-4220-9AC7-9896612B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671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F"/>
          </a:solidFill>
          <a:ln xmlns:a="http://schemas.openxmlformats.org/drawingml/2006/main" w="9525">
            <a:solidFill>
              <a:srgbClr val="D7192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A7017-7026-493C-B4D1-65CA9449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624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[マイルストーン / KPI]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496D03-7047-48C7-8BC5-11D6331D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更新時は、実績値・前回計画との差・遅延理由・意思決定事項をセットで記載</a:t>
            </a:r>
          </a:p>
        </p:txBody>
      </p:sp>
    </p:spTree>
    <p:extLst>
      <p:ext uri="{BB962C8B-B14F-4D97-AF65-F5344CB8AC3E}">
        <p14:creationId xmlns:p14="http://schemas.microsoft.com/office/powerpoint/2010/main" val="2132480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E79BDD-0D59-4A69-A435-0788DEF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730DE-B736-47B6-AD5D-8A0B6D8E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9EA26-8AE4-4428-B5D4-74FCFB5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主要リスクとモニタリング項目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63EBD-8752-47E8-B5AB-3C5A078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65A04-2698-4FAA-B57F-CD4614D9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4CD4-6A15-469E-9339-BFE500AB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8C2B1-BC56-4554-97DB-FAB87A9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F78C9-949D-4469-8D31-F767F533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049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リスク / 不確実性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0E49F-9990-4F07-80E7-7AEA1EB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382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9C82F-6AEB-49AD-917A-84C7DB6B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3049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影響経路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790BE-728B-4745-8362-8F1AE56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76B37-0D5F-4E4A-8359-5EC998AF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049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先行指標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2C972-62D7-449C-BB95-A92482C4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382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8C615-3B5A-4CA3-AC2A-713372C9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049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対応・確認時期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18F01-9344-462F-B827-7B3A7E6F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B5444-B109-4E34-B964-68343B0A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9B8C9-4A16-41B2-A267-64B86D0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D13A3-E34B-4F2F-AA30-91E230E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1D44B-92B9-42FF-9992-310D18A4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[リスク]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60844-D54F-49CB-BBEB-74D1324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信用への影響]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3F0BA-4580-44E6-BEFF-24B51BA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[KPI / 閾値]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E189D-A759-4360-B527-316C8ECD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90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[施策 / 時期]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BE4F7-DE4B-467A-959C-ADD4883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E1020-1FAD-4F19-BA5F-1865B12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F7A1E-35F0-4F15-AD15-59FF2478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A5E8E-CDFA-4322-AA8D-3D5175B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C1A900-F493-4F6E-B80C-3C5D70F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[リスク]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5E02F-C548-4B96-B9E7-1AE7DF84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003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信用への影響]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09327-93B5-446A-9D0C-8710119A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[KPI / 閾値]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4BB0B-3EC3-4957-8693-7209D47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003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[施策 / 時期]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4DF713-09D7-41FE-90F2-293231A1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9F2C7-82B0-4263-B742-F70C9E9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5FEB5-0CA1-4BC0-8DD0-F43ADEE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6CE465-90E6-4242-934B-853995F2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8557C-368A-43A8-B03E-CEE04E0B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[リスク]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EE2FDA-5218-4C5A-8609-42CF83B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099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信用への影響]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17A848-5693-4F74-94FB-757D8056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[KPI / 閾値]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9DDD41-87EF-4F1C-8549-44A87A22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99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[施策 / 時期]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10BEAE-4173-4773-B921-BFB5946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9FF2D2-00C4-4B2A-B0EC-D5E71B83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4337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2221B1-BC98-45FC-AB62-1DBEE26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4D2743-F092-4CB3-AC2B-96529E22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43375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BD4D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41C2E0-B5E5-49EA-A1FC-94B11DD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[リスク]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C24421-C385-4569-B3CD-6A4024FF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219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[売上 / コスト / 信用への影響]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B39BF0-A1BF-4FDC-9E69-9D0B9AD5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9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[KPI / 閾値]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B76D8A-7F41-4A08-A515-4F2561B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195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[施策 / 時期]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70B8E2-7485-40F4-A3F7-F958405F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確率や影響度は定義を添える。会社の自己評価と外部検証を区別する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19053591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BB37B-D334-434F-B02C-CE882DF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B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2F100-9D82-4451-BE83-2195E12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AA92E-9977-4E97-8F90-F3147757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結論・次回までの確認事項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0DA19-AAB8-424D-95F5-408DBB8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COMPANY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4B29D-DAE3-463E-9948-40A03E9C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92B4C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52551-D197-4BF0-BE5D-0B5429AB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22588-0B93-47B3-9119-5E66CCD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33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現時点の評価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85EB8-E7D0-4274-A641-23E0897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2DF8E-308B-41A4-8C07-6A4350F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7162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[結論を一文で。根拠と不確実性を含めて記載]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FD3E5-E882-4B1A-BDBD-9691F062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判断を更新する観測項目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53906-7B44-42AF-BBC7-2BAC0453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619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98F01-EE44-4DA4-B061-AB8B0415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[指標 1] / [閾値] / [確認時期]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E31FD-9915-4953-BECE-E53D0B8C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619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1BFC6-D3AF-4B81-9EF2-B0EBF56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[指標 2] / [閾値] / [確認時期]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06A0B-D189-47A8-9285-5CD2186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619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6C58C-3815-44C2-BBF7-DDEE020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[指標 3] / [閾値] / [確認時期]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FBA37-23EC-4BAD-95CC-77EAC8EB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76B9A"/>
                </a:solidFill>
                <a:latin typeface="Yu Gothic"/>
                <a:ea typeface="Yu Gothic"/>
                <a:cs typeface="Yu Gothic"/>
              </a:rPr>
              <a:t>主要出典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7B5AF-A8B8-40C5-B4FC-B3D78F7E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[資料名・公表日・対象期間]</a:t>
            </a:r>
          </a:p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[発行主体・ページ]</a:t>
            </a:r>
          </a:p>
          <a:p xmlns:a="http://schemas.openxmlformats.org/drawingml/2006/main">
            <a:pPr algn="l">
              <a:def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263746"/>
                </a:solidFill>
                <a:latin typeface="Yu Gothic"/>
                <a:ea typeface="Yu Gothic"/>
                <a:cs typeface="Yu Gothic"/>
              </a:rPr>
              <a:t>[URL / 参照日]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36B66-51F7-46AB-BDE0-625CEBF0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87887"/>
                </a:solidFill>
                <a:latin typeface="Yu Gothic"/>
                <a:ea typeface="Yu Gothic"/>
                <a:cs typeface="Yu Gothic"/>
              </a:rPr>
              <a:t>注記: [単位・定義・推計方法・免責など]</a:t>
            </a:r>
          </a:p>
        </p:txBody>
      </p:sp>
    </p:spTree>
    <p:extLst>
      <p:ext uri="{BB962C8B-B14F-4D97-AF65-F5344CB8AC3E}">
        <p14:creationId xmlns:p14="http://schemas.microsoft.com/office/powerpoint/2010/main" val="1189897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2026-09-25T05:30:29.5660000Z</dcterms:created>
  <dcterms:modified xsi:type="dcterms:W3CDTF">2026-09-25T05:30:29.5660000Z</dcterms:modified>
</coreProperties>
</file>